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6" r:id="rId3"/>
    <p:sldId id="261" r:id="rId4"/>
    <p:sldId id="262" r:id="rId5"/>
    <p:sldId id="257" r:id="rId6"/>
    <p:sldId id="258" r:id="rId7"/>
    <p:sldId id="259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416" y="36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938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0802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4219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849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1450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806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2316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294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598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387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6122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3525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3413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7439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8831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866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18615-1999-41FC-B4DD-992903A15ED4}" type="datetimeFigureOut">
              <a:rPr lang="es-MX" smtClean="0"/>
              <a:t>06/10/2020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FE74BEA-CD9D-4705-B8A0-F436F85DBDC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84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CB66BC2-E12E-463B-AAFE-BCBAD45D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450" y="1595660"/>
            <a:ext cx="9809161" cy="3947890"/>
          </a:xfrm>
        </p:spPr>
        <p:txBody>
          <a:bodyPr>
            <a:normAutofit/>
          </a:bodyPr>
          <a:lstStyle/>
          <a:p>
            <a:pPr algn="just"/>
            <a:r>
              <a:rPr lang="es-MX" dirty="0"/>
              <a:t>Problema: Una empresa dispone de 4 trabajos. 4 postulantes se presentan para los 4 trabajos. Los puntajes de desempeño de los 4 postulantes en los trabajos son los siguientes:</a:t>
            </a:r>
          </a:p>
        </p:txBody>
      </p:sp>
    </p:spTree>
    <p:extLst>
      <p:ext uri="{BB962C8B-B14F-4D97-AF65-F5344CB8AC3E}">
        <p14:creationId xmlns:p14="http://schemas.microsoft.com/office/powerpoint/2010/main" val="874063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7454C31A-1D6B-4A83-81DA-2F13CDF71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093754"/>
              </p:ext>
            </p:extLst>
          </p:nvPr>
        </p:nvGraphicFramePr>
        <p:xfrm>
          <a:off x="1933575" y="265113"/>
          <a:ext cx="9239250" cy="4878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3910445427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130330641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927469219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6958124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179272009"/>
                    </a:ext>
                  </a:extLst>
                </a:gridCol>
              </a:tblGrid>
              <a:tr h="95988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TRABAJO 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TRABAJO 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TRABAJO 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TRABAJO 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228584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endParaRPr lang="es-MX" b="1" dirty="0"/>
                    </a:p>
                    <a:p>
                      <a:r>
                        <a:rPr lang="es-MX" b="1" dirty="0"/>
                        <a:t>POSTULANTE 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39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36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21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36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386590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endParaRPr lang="es-MX" b="1" dirty="0"/>
                    </a:p>
                    <a:p>
                      <a:r>
                        <a:rPr lang="es-MX" b="1" dirty="0"/>
                        <a:t>POSTULANTE 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30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21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39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234486"/>
                  </a:ext>
                </a:extLst>
              </a:tr>
              <a:tr h="1038868">
                <a:tc>
                  <a:txBody>
                    <a:bodyPr/>
                    <a:lstStyle/>
                    <a:p>
                      <a:endParaRPr lang="es-MX" b="1" dirty="0"/>
                    </a:p>
                    <a:p>
                      <a:r>
                        <a:rPr lang="es-MX" b="1" dirty="0"/>
                        <a:t>POSTULANTE 3</a:t>
                      </a:r>
                    </a:p>
                    <a:p>
                      <a:pPr algn="ctr"/>
                      <a:endParaRPr lang="es-MX" sz="24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30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21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39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400268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endParaRPr lang="es-MX" b="1" dirty="0"/>
                    </a:p>
                    <a:p>
                      <a:pPr algn="ctr"/>
                      <a:r>
                        <a:rPr lang="es-MX" sz="1800" b="1" dirty="0"/>
                        <a:t>POSTULANTE 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39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24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30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24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824404"/>
                  </a:ext>
                </a:extLst>
              </a:tr>
            </a:tbl>
          </a:graphicData>
        </a:graphic>
      </p:graphicFrame>
      <p:sp>
        <p:nvSpPr>
          <p:cNvPr id="6" name="Título 3">
            <a:extLst>
              <a:ext uri="{FF2B5EF4-FFF2-40B4-BE49-F238E27FC236}">
                <a16:creationId xmlns:a16="http://schemas.microsoft.com/office/drawing/2014/main" id="{34EE904F-51A7-436B-AF38-4261D735C8B7}"/>
              </a:ext>
            </a:extLst>
          </p:cNvPr>
          <p:cNvSpPr txBox="1">
            <a:spLocks/>
          </p:cNvSpPr>
          <p:nvPr/>
        </p:nvSpPr>
        <p:spPr>
          <a:xfrm>
            <a:off x="1648619" y="5718627"/>
            <a:ext cx="9809161" cy="6404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r>
              <a:rPr lang="es-MX" sz="2400" b="1" dirty="0"/>
              <a:t>Asignar a cada postulante el trabajo en el cual mejor se desempeñen </a:t>
            </a:r>
          </a:p>
        </p:txBody>
      </p:sp>
    </p:spTree>
    <p:extLst>
      <p:ext uri="{BB962C8B-B14F-4D97-AF65-F5344CB8AC3E}">
        <p14:creationId xmlns:p14="http://schemas.microsoft.com/office/powerpoint/2010/main" val="1562986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F99C1-044C-461D-943F-9187F605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954609"/>
            <a:ext cx="10515600" cy="1653382"/>
          </a:xfrm>
        </p:spPr>
        <p:txBody>
          <a:bodyPr>
            <a:noAutofit/>
          </a:bodyPr>
          <a:lstStyle/>
          <a:p>
            <a:pPr algn="just"/>
            <a:r>
              <a:rPr lang="es-MX" sz="3600" dirty="0"/>
              <a:t>El método Húngaro solo sirve para minimización. Para resolver este ejercicio(maximización) debemos transformar el ejercicio como fuese uno de minimización 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D0E086A-3A5F-434D-B2F1-D45507DD9568}"/>
              </a:ext>
            </a:extLst>
          </p:cNvPr>
          <p:cNvSpPr txBox="1">
            <a:spLocks/>
          </p:cNvSpPr>
          <p:nvPr/>
        </p:nvSpPr>
        <p:spPr>
          <a:xfrm>
            <a:off x="1143000" y="4591050"/>
            <a:ext cx="10515600" cy="1885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dirty="0"/>
              <a:t>Para realizar esto debemos hallar el número más grande de la tabla y se debe restar sobre este numero cada elemento de la tabla y colocarlo en su mismo lugar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7D9F6E5-2A1A-4920-B245-6862B7F17C50}"/>
              </a:ext>
            </a:extLst>
          </p:cNvPr>
          <p:cNvSpPr txBox="1">
            <a:spLocks/>
          </p:cNvSpPr>
          <p:nvPr/>
        </p:nvSpPr>
        <p:spPr>
          <a:xfrm>
            <a:off x="1849439" y="822634"/>
            <a:ext cx="9809161" cy="6404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r>
              <a:rPr lang="es-MX" dirty="0"/>
              <a:t>SOLUCIÓN:</a:t>
            </a:r>
          </a:p>
        </p:txBody>
      </p:sp>
    </p:spTree>
    <p:extLst>
      <p:ext uri="{BB962C8B-B14F-4D97-AF65-F5344CB8AC3E}">
        <p14:creationId xmlns:p14="http://schemas.microsoft.com/office/powerpoint/2010/main" val="1094299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7454C31A-1D6B-4A83-81DA-2F13CDF71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047424"/>
              </p:ext>
            </p:extLst>
          </p:nvPr>
        </p:nvGraphicFramePr>
        <p:xfrm>
          <a:off x="2032000" y="734656"/>
          <a:ext cx="8128000" cy="4723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9104454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33064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274692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6958124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9272009"/>
                    </a:ext>
                  </a:extLst>
                </a:gridCol>
              </a:tblGrid>
              <a:tr h="92936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228584"/>
                  </a:ext>
                </a:extLst>
              </a:tr>
              <a:tr h="929363">
                <a:tc>
                  <a:txBody>
                    <a:bodyPr/>
                    <a:lstStyle/>
                    <a:p>
                      <a:pPr algn="ctr"/>
                      <a:endParaRPr lang="es-MX" b="1" dirty="0"/>
                    </a:p>
                    <a:p>
                      <a:pPr algn="ctr"/>
                      <a:r>
                        <a:rPr lang="es-MX" b="1" dirty="0"/>
                        <a:t>P1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45-39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45-36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45-21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45-36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386590"/>
                  </a:ext>
                </a:extLst>
              </a:tr>
              <a:tr h="929363">
                <a:tc>
                  <a:txBody>
                    <a:bodyPr/>
                    <a:lstStyle/>
                    <a:p>
                      <a:pPr algn="ctr"/>
                      <a:endParaRPr lang="es-MX" b="1" dirty="0"/>
                    </a:p>
                    <a:p>
                      <a:pPr algn="ctr"/>
                      <a:r>
                        <a:rPr lang="es-MX" b="1" dirty="0"/>
                        <a:t>P2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45-30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45-21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45-39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45-45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234486"/>
                  </a:ext>
                </a:extLst>
              </a:tr>
              <a:tr h="929363">
                <a:tc>
                  <a:txBody>
                    <a:bodyPr/>
                    <a:lstStyle/>
                    <a:p>
                      <a:pPr algn="ctr"/>
                      <a:endParaRPr lang="es-MX" b="1" dirty="0"/>
                    </a:p>
                    <a:p>
                      <a:pPr algn="ctr"/>
                      <a:r>
                        <a:rPr lang="es-MX" b="1" dirty="0"/>
                        <a:t>P3</a:t>
                      </a:r>
                    </a:p>
                    <a:p>
                      <a:pPr algn="ctr"/>
                      <a:endParaRPr lang="es-MX" sz="24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45-30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45-21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45-39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45-43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400268"/>
                  </a:ext>
                </a:extLst>
              </a:tr>
              <a:tr h="929363">
                <a:tc>
                  <a:txBody>
                    <a:bodyPr/>
                    <a:lstStyle/>
                    <a:p>
                      <a:pPr algn="ctr"/>
                      <a:endParaRPr lang="es-MX" sz="1800" b="1" dirty="0"/>
                    </a:p>
                    <a:p>
                      <a:pPr algn="ctr"/>
                      <a:r>
                        <a:rPr lang="es-MX" sz="1800" b="1" dirty="0"/>
                        <a:t>P4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45-39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45-24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45-30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45-24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82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984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7454C31A-1D6B-4A83-81DA-2F13CDF71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652019"/>
              </p:ext>
            </p:extLst>
          </p:nvPr>
        </p:nvGraphicFramePr>
        <p:xfrm>
          <a:off x="1069473" y="782782"/>
          <a:ext cx="8128000" cy="4799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9104454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33064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274692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6958124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9272009"/>
                    </a:ext>
                  </a:extLst>
                </a:gridCol>
              </a:tblGrid>
              <a:tr h="92936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228584"/>
                  </a:ext>
                </a:extLst>
              </a:tr>
              <a:tr h="929363">
                <a:tc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b="1" dirty="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24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386590"/>
                  </a:ext>
                </a:extLst>
              </a:tr>
              <a:tr h="929363">
                <a:tc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b="1" dirty="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24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234486"/>
                  </a:ext>
                </a:extLst>
              </a:tr>
              <a:tr h="929363">
                <a:tc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b="1" dirty="0">
                          <a:solidFill>
                            <a:schemeClr val="tx1"/>
                          </a:solidFill>
                        </a:rPr>
                        <a:t>P3</a:t>
                      </a:r>
                    </a:p>
                    <a:p>
                      <a:pPr algn="ctr"/>
                      <a:endParaRPr lang="es-MX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24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400268"/>
                  </a:ext>
                </a:extLst>
              </a:tr>
              <a:tr h="929363">
                <a:tc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b="1" dirty="0">
                          <a:solidFill>
                            <a:schemeClr val="tx1"/>
                          </a:solidFill>
                        </a:rPr>
                        <a:t>P4</a:t>
                      </a:r>
                    </a:p>
                    <a:p>
                      <a:pPr algn="ctr"/>
                      <a:endParaRPr lang="es-MX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21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pPr algn="ctr"/>
                      <a:r>
                        <a:rPr lang="es-MX" sz="2400" dirty="0"/>
                        <a:t>21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824404"/>
                  </a:ext>
                </a:extLst>
              </a:tr>
            </a:tbl>
          </a:graphicData>
        </a:graphic>
      </p:graphicFrame>
      <p:sp>
        <p:nvSpPr>
          <p:cNvPr id="3" name="Flecha: hacia la izquierda 2">
            <a:extLst>
              <a:ext uri="{FF2B5EF4-FFF2-40B4-BE49-F238E27FC236}">
                <a16:creationId xmlns:a16="http://schemas.microsoft.com/office/drawing/2014/main" id="{4617AAFF-8E49-4A8D-B314-631122C0F397}"/>
              </a:ext>
            </a:extLst>
          </p:cNvPr>
          <p:cNvSpPr/>
          <p:nvPr/>
        </p:nvSpPr>
        <p:spPr>
          <a:xfrm>
            <a:off x="9438104" y="1756611"/>
            <a:ext cx="2310063" cy="794084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dirty="0"/>
              <a:t>6 es valor mínimo</a:t>
            </a:r>
          </a:p>
        </p:txBody>
      </p:sp>
      <p:sp>
        <p:nvSpPr>
          <p:cNvPr id="5" name="Flecha: hacia la izquierda 4">
            <a:extLst>
              <a:ext uri="{FF2B5EF4-FFF2-40B4-BE49-F238E27FC236}">
                <a16:creationId xmlns:a16="http://schemas.microsoft.com/office/drawing/2014/main" id="{DDB3CD3B-DB19-4FB3-AF18-618142339503}"/>
              </a:ext>
            </a:extLst>
          </p:cNvPr>
          <p:cNvSpPr/>
          <p:nvPr/>
        </p:nvSpPr>
        <p:spPr>
          <a:xfrm>
            <a:off x="9438104" y="4635513"/>
            <a:ext cx="2310063" cy="794084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dirty="0"/>
              <a:t>6 es valor mínimo</a:t>
            </a:r>
          </a:p>
        </p:txBody>
      </p:sp>
      <p:sp>
        <p:nvSpPr>
          <p:cNvPr id="7" name="Flecha: hacia la izquierda 6">
            <a:extLst>
              <a:ext uri="{FF2B5EF4-FFF2-40B4-BE49-F238E27FC236}">
                <a16:creationId xmlns:a16="http://schemas.microsoft.com/office/drawing/2014/main" id="{14D97D77-E1AD-4F63-BF67-31D73419DDF1}"/>
              </a:ext>
            </a:extLst>
          </p:cNvPr>
          <p:cNvSpPr/>
          <p:nvPr/>
        </p:nvSpPr>
        <p:spPr>
          <a:xfrm>
            <a:off x="9438103" y="3635214"/>
            <a:ext cx="2310063" cy="794084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dirty="0"/>
              <a:t>2 es valor mínimo</a:t>
            </a:r>
          </a:p>
        </p:txBody>
      </p:sp>
      <p:sp>
        <p:nvSpPr>
          <p:cNvPr id="8" name="Flecha: hacia la izquierda 7">
            <a:extLst>
              <a:ext uri="{FF2B5EF4-FFF2-40B4-BE49-F238E27FC236}">
                <a16:creationId xmlns:a16="http://schemas.microsoft.com/office/drawing/2014/main" id="{C4CB59E5-1DC7-4CB1-B777-A30424A079F7}"/>
              </a:ext>
            </a:extLst>
          </p:cNvPr>
          <p:cNvSpPr/>
          <p:nvPr/>
        </p:nvSpPr>
        <p:spPr>
          <a:xfrm>
            <a:off x="9438103" y="2634916"/>
            <a:ext cx="2310063" cy="794084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dirty="0"/>
              <a:t>0 es valor mínimo</a:t>
            </a:r>
          </a:p>
        </p:txBody>
      </p:sp>
    </p:spTree>
    <p:extLst>
      <p:ext uri="{BB962C8B-B14F-4D97-AF65-F5344CB8AC3E}">
        <p14:creationId xmlns:p14="http://schemas.microsoft.com/office/powerpoint/2010/main" val="248227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9457B1C0-7DC1-46AD-92F0-C25EBF917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715507"/>
              </p:ext>
            </p:extLst>
          </p:nvPr>
        </p:nvGraphicFramePr>
        <p:xfrm>
          <a:off x="828248" y="952600"/>
          <a:ext cx="1591402" cy="450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402">
                  <a:extLst>
                    <a:ext uri="{9D8B030D-6E8A-4147-A177-3AD203B41FA5}">
                      <a16:colId xmlns:a16="http://schemas.microsoft.com/office/drawing/2014/main" val="1292673815"/>
                    </a:ext>
                  </a:extLst>
                </a:gridCol>
              </a:tblGrid>
              <a:tr h="900408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114763"/>
                  </a:ext>
                </a:extLst>
              </a:tr>
              <a:tr h="900408">
                <a:tc>
                  <a:txBody>
                    <a:bodyPr/>
                    <a:lstStyle/>
                    <a:p>
                      <a:pPr algn="ctr"/>
                      <a:endParaRPr lang="es-MX" b="1" dirty="0"/>
                    </a:p>
                    <a:p>
                      <a:pPr algn="ctr"/>
                      <a:r>
                        <a:rPr lang="es-MX" b="1" dirty="0"/>
                        <a:t>P1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920454"/>
                  </a:ext>
                </a:extLst>
              </a:tr>
              <a:tr h="900408">
                <a:tc>
                  <a:txBody>
                    <a:bodyPr/>
                    <a:lstStyle/>
                    <a:p>
                      <a:pPr algn="ctr"/>
                      <a:endParaRPr lang="es-MX" b="1" dirty="0"/>
                    </a:p>
                    <a:p>
                      <a:pPr algn="ctr"/>
                      <a:r>
                        <a:rPr lang="es-MX" b="1" dirty="0"/>
                        <a:t>P2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082689"/>
                  </a:ext>
                </a:extLst>
              </a:tr>
              <a:tr h="900408">
                <a:tc>
                  <a:txBody>
                    <a:bodyPr/>
                    <a:lstStyle/>
                    <a:p>
                      <a:pPr algn="ctr"/>
                      <a:endParaRPr lang="es-MX" b="1" dirty="0"/>
                    </a:p>
                    <a:p>
                      <a:pPr algn="ctr"/>
                      <a:r>
                        <a:rPr lang="es-MX" b="1" dirty="0"/>
                        <a:t>P3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111626"/>
                  </a:ext>
                </a:extLst>
              </a:tr>
              <a:tr h="900408">
                <a:tc>
                  <a:txBody>
                    <a:bodyPr/>
                    <a:lstStyle/>
                    <a:p>
                      <a:pPr algn="ctr"/>
                      <a:endParaRPr lang="es-MX" b="1" dirty="0"/>
                    </a:p>
                    <a:p>
                      <a:pPr algn="ctr"/>
                      <a:r>
                        <a:rPr lang="es-MX" b="1" dirty="0"/>
                        <a:t>P4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991086"/>
                  </a:ext>
                </a:extLst>
              </a:tr>
            </a:tbl>
          </a:graphicData>
        </a:graphic>
      </p:graphicFrame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16B37665-6FAE-4610-91E8-C086D4427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179847"/>
              </p:ext>
            </p:extLst>
          </p:nvPr>
        </p:nvGraphicFramePr>
        <p:xfrm>
          <a:off x="2419650" y="976252"/>
          <a:ext cx="7243012" cy="892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753">
                  <a:extLst>
                    <a:ext uri="{9D8B030D-6E8A-4147-A177-3AD203B41FA5}">
                      <a16:colId xmlns:a16="http://schemas.microsoft.com/office/drawing/2014/main" val="735300541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53771610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24361591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3787105395"/>
                    </a:ext>
                  </a:extLst>
                </a:gridCol>
              </a:tblGrid>
              <a:tr h="892566">
                <a:tc>
                  <a:txBody>
                    <a:bodyPr/>
                    <a:lstStyle/>
                    <a:p>
                      <a:endParaRPr lang="es-MX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b="1" dirty="0">
                          <a:solidFill>
                            <a:schemeClr val="tx1"/>
                          </a:solidFill>
                        </a:rPr>
                        <a:t>T1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b="1" dirty="0">
                          <a:solidFill>
                            <a:schemeClr val="tx1"/>
                          </a:solidFill>
                        </a:rPr>
                        <a:t>T2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b="1" dirty="0">
                          <a:solidFill>
                            <a:schemeClr val="tx1"/>
                          </a:solidFill>
                        </a:rPr>
                        <a:t>T3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b="1" dirty="0">
                          <a:solidFill>
                            <a:schemeClr val="tx1"/>
                          </a:solidFill>
                        </a:rPr>
                        <a:t>T4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055183"/>
                  </a:ext>
                </a:extLst>
              </a:tr>
            </a:tbl>
          </a:graphicData>
        </a:graphic>
      </p:graphicFrame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92E1218B-C69D-4FB7-AF04-1A5734108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74357"/>
              </p:ext>
            </p:extLst>
          </p:nvPr>
        </p:nvGraphicFramePr>
        <p:xfrm>
          <a:off x="2419650" y="1877848"/>
          <a:ext cx="7243012" cy="892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753">
                  <a:extLst>
                    <a:ext uri="{9D8B030D-6E8A-4147-A177-3AD203B41FA5}">
                      <a16:colId xmlns:a16="http://schemas.microsoft.com/office/drawing/2014/main" val="735300541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53771610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24361591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3787105395"/>
                    </a:ext>
                  </a:extLst>
                </a:gridCol>
              </a:tblGrid>
              <a:tr h="89256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055183"/>
                  </a:ext>
                </a:extLst>
              </a:tr>
            </a:tbl>
          </a:graphicData>
        </a:graphic>
      </p:graphicFrame>
      <p:graphicFrame>
        <p:nvGraphicFramePr>
          <p:cNvPr id="7" name="Tabla 4">
            <a:extLst>
              <a:ext uri="{FF2B5EF4-FFF2-40B4-BE49-F238E27FC236}">
                <a16:creationId xmlns:a16="http://schemas.microsoft.com/office/drawing/2014/main" id="{C4B6697E-8CAD-40EF-8B68-2FAA28AA4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253494"/>
              </p:ext>
            </p:extLst>
          </p:nvPr>
        </p:nvGraphicFramePr>
        <p:xfrm>
          <a:off x="2419650" y="2763003"/>
          <a:ext cx="7243012" cy="892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753">
                  <a:extLst>
                    <a:ext uri="{9D8B030D-6E8A-4147-A177-3AD203B41FA5}">
                      <a16:colId xmlns:a16="http://schemas.microsoft.com/office/drawing/2014/main" val="735300541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53771610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24361591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3787105395"/>
                    </a:ext>
                  </a:extLst>
                </a:gridCol>
              </a:tblGrid>
              <a:tr h="89256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055183"/>
                  </a:ext>
                </a:extLst>
              </a:tr>
            </a:tbl>
          </a:graphicData>
        </a:graphic>
      </p:graphicFrame>
      <p:graphicFrame>
        <p:nvGraphicFramePr>
          <p:cNvPr id="8" name="Tabla 4">
            <a:extLst>
              <a:ext uri="{FF2B5EF4-FFF2-40B4-BE49-F238E27FC236}">
                <a16:creationId xmlns:a16="http://schemas.microsoft.com/office/drawing/2014/main" id="{F202FCBF-3242-4F65-9DF0-BF48EE940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114653"/>
              </p:ext>
            </p:extLst>
          </p:nvPr>
        </p:nvGraphicFramePr>
        <p:xfrm>
          <a:off x="2419650" y="3655569"/>
          <a:ext cx="7243012" cy="892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753">
                  <a:extLst>
                    <a:ext uri="{9D8B030D-6E8A-4147-A177-3AD203B41FA5}">
                      <a16:colId xmlns:a16="http://schemas.microsoft.com/office/drawing/2014/main" val="735300541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53771610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24361591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3787105395"/>
                    </a:ext>
                  </a:extLst>
                </a:gridCol>
              </a:tblGrid>
              <a:tr h="89256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055183"/>
                  </a:ext>
                </a:extLst>
              </a:tr>
            </a:tbl>
          </a:graphicData>
        </a:graphic>
      </p:graphicFrame>
      <p:graphicFrame>
        <p:nvGraphicFramePr>
          <p:cNvPr id="9" name="Tabla 4">
            <a:extLst>
              <a:ext uri="{FF2B5EF4-FFF2-40B4-BE49-F238E27FC236}">
                <a16:creationId xmlns:a16="http://schemas.microsoft.com/office/drawing/2014/main" id="{19D1A3A1-A435-419E-AA88-0A6ED67F5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578467"/>
              </p:ext>
            </p:extLst>
          </p:nvPr>
        </p:nvGraphicFramePr>
        <p:xfrm>
          <a:off x="2419650" y="4571104"/>
          <a:ext cx="7243012" cy="892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753">
                  <a:extLst>
                    <a:ext uri="{9D8B030D-6E8A-4147-A177-3AD203B41FA5}">
                      <a16:colId xmlns:a16="http://schemas.microsoft.com/office/drawing/2014/main" val="735300541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53771610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24361591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3787105395"/>
                    </a:ext>
                  </a:extLst>
                </a:gridCol>
              </a:tblGrid>
              <a:tr h="89256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055183"/>
                  </a:ext>
                </a:extLst>
              </a:tr>
            </a:tbl>
          </a:graphicData>
        </a:graphic>
      </p:graphicFrame>
      <p:sp>
        <p:nvSpPr>
          <p:cNvPr id="10" name="Flecha: hacia arriba 9">
            <a:extLst>
              <a:ext uri="{FF2B5EF4-FFF2-40B4-BE49-F238E27FC236}">
                <a16:creationId xmlns:a16="http://schemas.microsoft.com/office/drawing/2014/main" id="{C27E8215-35A1-4781-BE87-087DEC5CF066}"/>
              </a:ext>
            </a:extLst>
          </p:cNvPr>
          <p:cNvSpPr/>
          <p:nvPr/>
        </p:nvSpPr>
        <p:spPr>
          <a:xfrm>
            <a:off x="4351953" y="5664281"/>
            <a:ext cx="1965633" cy="892566"/>
          </a:xfrm>
          <a:prstGeom prst="upArrow">
            <a:avLst>
              <a:gd name="adj1" fmla="val 6794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/>
              <a:t>3 es mínimo</a:t>
            </a:r>
          </a:p>
        </p:txBody>
      </p:sp>
      <p:sp>
        <p:nvSpPr>
          <p:cNvPr id="11" name="Flecha: hacia arriba 10">
            <a:extLst>
              <a:ext uri="{FF2B5EF4-FFF2-40B4-BE49-F238E27FC236}">
                <a16:creationId xmlns:a16="http://schemas.microsoft.com/office/drawing/2014/main" id="{F0BAC414-208F-42C7-A348-54453405143B}"/>
              </a:ext>
            </a:extLst>
          </p:cNvPr>
          <p:cNvSpPr/>
          <p:nvPr/>
        </p:nvSpPr>
        <p:spPr>
          <a:xfrm>
            <a:off x="2419650" y="5664281"/>
            <a:ext cx="1965633" cy="892566"/>
          </a:xfrm>
          <a:prstGeom prst="upArrow">
            <a:avLst>
              <a:gd name="adj1" fmla="val 6794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/>
              <a:t>0 es mínimo</a:t>
            </a:r>
          </a:p>
        </p:txBody>
      </p:sp>
      <p:sp>
        <p:nvSpPr>
          <p:cNvPr id="12" name="Flecha: hacia arriba 11">
            <a:extLst>
              <a:ext uri="{FF2B5EF4-FFF2-40B4-BE49-F238E27FC236}">
                <a16:creationId xmlns:a16="http://schemas.microsoft.com/office/drawing/2014/main" id="{16619A32-CB0A-445C-8CC7-80E3A1B7F2FD}"/>
              </a:ext>
            </a:extLst>
          </p:cNvPr>
          <p:cNvSpPr/>
          <p:nvPr/>
        </p:nvSpPr>
        <p:spPr>
          <a:xfrm>
            <a:off x="6096000" y="5664281"/>
            <a:ext cx="1965633" cy="892566"/>
          </a:xfrm>
          <a:prstGeom prst="upArrow">
            <a:avLst>
              <a:gd name="adj1" fmla="val 6794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/>
              <a:t>4 es mínimo</a:t>
            </a:r>
          </a:p>
        </p:txBody>
      </p:sp>
      <p:sp>
        <p:nvSpPr>
          <p:cNvPr id="13" name="Flecha: hacia arriba 12">
            <a:extLst>
              <a:ext uri="{FF2B5EF4-FFF2-40B4-BE49-F238E27FC236}">
                <a16:creationId xmlns:a16="http://schemas.microsoft.com/office/drawing/2014/main" id="{F20862DF-80B3-410C-8A3D-27672B1207B2}"/>
              </a:ext>
            </a:extLst>
          </p:cNvPr>
          <p:cNvSpPr/>
          <p:nvPr/>
        </p:nvSpPr>
        <p:spPr>
          <a:xfrm>
            <a:off x="7967665" y="5664281"/>
            <a:ext cx="1965633" cy="892566"/>
          </a:xfrm>
          <a:prstGeom prst="upArrow">
            <a:avLst>
              <a:gd name="adj1" fmla="val 6794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/>
              <a:t>0 es mínimo</a:t>
            </a:r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901E2A55-FE75-496D-9FFD-A35C2132EEFF}"/>
              </a:ext>
            </a:extLst>
          </p:cNvPr>
          <p:cNvSpPr/>
          <p:nvPr/>
        </p:nvSpPr>
        <p:spPr>
          <a:xfrm>
            <a:off x="9772350" y="1868818"/>
            <a:ext cx="2310063" cy="794084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dirty="0"/>
              <a:t>Restar 6 </a:t>
            </a:r>
          </a:p>
        </p:txBody>
      </p:sp>
      <p:sp>
        <p:nvSpPr>
          <p:cNvPr id="15" name="Flecha: hacia la izquierda 14">
            <a:extLst>
              <a:ext uri="{FF2B5EF4-FFF2-40B4-BE49-F238E27FC236}">
                <a16:creationId xmlns:a16="http://schemas.microsoft.com/office/drawing/2014/main" id="{6F6B1AA3-D7F6-4E80-97AE-1169E76497B5}"/>
              </a:ext>
            </a:extLst>
          </p:cNvPr>
          <p:cNvSpPr/>
          <p:nvPr/>
        </p:nvSpPr>
        <p:spPr>
          <a:xfrm>
            <a:off x="9772349" y="2749695"/>
            <a:ext cx="2310063" cy="794084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dirty="0"/>
              <a:t>Restar 0</a:t>
            </a:r>
          </a:p>
        </p:txBody>
      </p:sp>
      <p:sp>
        <p:nvSpPr>
          <p:cNvPr id="16" name="Flecha: hacia la izquierda 15">
            <a:extLst>
              <a:ext uri="{FF2B5EF4-FFF2-40B4-BE49-F238E27FC236}">
                <a16:creationId xmlns:a16="http://schemas.microsoft.com/office/drawing/2014/main" id="{8554C060-4BD0-4625-8D0C-B482E4D40E2D}"/>
              </a:ext>
            </a:extLst>
          </p:cNvPr>
          <p:cNvSpPr/>
          <p:nvPr/>
        </p:nvSpPr>
        <p:spPr>
          <a:xfrm>
            <a:off x="9772350" y="3655569"/>
            <a:ext cx="2310063" cy="794084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dirty="0"/>
              <a:t>Restar 2</a:t>
            </a:r>
          </a:p>
        </p:txBody>
      </p:sp>
      <p:sp>
        <p:nvSpPr>
          <p:cNvPr id="17" name="Flecha: hacia la izquierda 16">
            <a:extLst>
              <a:ext uri="{FF2B5EF4-FFF2-40B4-BE49-F238E27FC236}">
                <a16:creationId xmlns:a16="http://schemas.microsoft.com/office/drawing/2014/main" id="{1EBEAF7E-4F70-4C8E-BDD0-C83A0914DFFE}"/>
              </a:ext>
            </a:extLst>
          </p:cNvPr>
          <p:cNvSpPr/>
          <p:nvPr/>
        </p:nvSpPr>
        <p:spPr>
          <a:xfrm>
            <a:off x="9772350" y="4548135"/>
            <a:ext cx="2310063" cy="794084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dirty="0"/>
              <a:t>Restar 6 </a:t>
            </a:r>
          </a:p>
        </p:txBody>
      </p:sp>
    </p:spTree>
    <p:extLst>
      <p:ext uri="{BB962C8B-B14F-4D97-AF65-F5344CB8AC3E}">
        <p14:creationId xmlns:p14="http://schemas.microsoft.com/office/powerpoint/2010/main" val="294418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9457B1C0-7DC1-46AD-92F0-C25EBF917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563707"/>
              </p:ext>
            </p:extLst>
          </p:nvPr>
        </p:nvGraphicFramePr>
        <p:xfrm>
          <a:off x="1228298" y="936234"/>
          <a:ext cx="1591402" cy="450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402">
                  <a:extLst>
                    <a:ext uri="{9D8B030D-6E8A-4147-A177-3AD203B41FA5}">
                      <a16:colId xmlns:a16="http://schemas.microsoft.com/office/drawing/2014/main" val="1292673815"/>
                    </a:ext>
                  </a:extLst>
                </a:gridCol>
              </a:tblGrid>
              <a:tr h="900408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114763"/>
                  </a:ext>
                </a:extLst>
              </a:tr>
              <a:tr h="900408">
                <a:tc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b="1" dirty="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920454"/>
                  </a:ext>
                </a:extLst>
              </a:tr>
              <a:tr h="900408">
                <a:tc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b="1" dirty="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082689"/>
                  </a:ext>
                </a:extLst>
              </a:tr>
              <a:tr h="900408">
                <a:tc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b="1" dirty="0">
                          <a:solidFill>
                            <a:schemeClr val="tx1"/>
                          </a:solidFill>
                        </a:rPr>
                        <a:t>P3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111626"/>
                  </a:ext>
                </a:extLst>
              </a:tr>
              <a:tr h="900408">
                <a:tc>
                  <a:txBody>
                    <a:bodyPr/>
                    <a:lstStyle/>
                    <a:p>
                      <a:pPr algn="ctr"/>
                      <a:endParaRPr lang="es-MX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b="1" dirty="0">
                          <a:solidFill>
                            <a:schemeClr val="tx1"/>
                          </a:solidFill>
                        </a:rPr>
                        <a:t>P4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991086"/>
                  </a:ext>
                </a:extLst>
              </a:tr>
            </a:tbl>
          </a:graphicData>
        </a:graphic>
      </p:graphicFrame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16B37665-6FAE-4610-91E8-C086D4427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753908"/>
              </p:ext>
            </p:extLst>
          </p:nvPr>
        </p:nvGraphicFramePr>
        <p:xfrm>
          <a:off x="2819700" y="952600"/>
          <a:ext cx="7243012" cy="892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753">
                  <a:extLst>
                    <a:ext uri="{9D8B030D-6E8A-4147-A177-3AD203B41FA5}">
                      <a16:colId xmlns:a16="http://schemas.microsoft.com/office/drawing/2014/main" val="735300541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53771610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24361591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3787105395"/>
                    </a:ext>
                  </a:extLst>
                </a:gridCol>
              </a:tblGrid>
              <a:tr h="892566"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055183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6624A63B-B6B4-4B20-9E3B-9BD21A150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218982"/>
              </p:ext>
            </p:extLst>
          </p:nvPr>
        </p:nvGraphicFramePr>
        <p:xfrm>
          <a:off x="2819700" y="1861532"/>
          <a:ext cx="1806891" cy="357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891">
                  <a:extLst>
                    <a:ext uri="{9D8B030D-6E8A-4147-A177-3AD203B41FA5}">
                      <a16:colId xmlns:a16="http://schemas.microsoft.com/office/drawing/2014/main" val="1866292576"/>
                    </a:ext>
                  </a:extLst>
                </a:gridCol>
              </a:tblGrid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17470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89795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484093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41673"/>
                  </a:ext>
                </a:extLst>
              </a:tr>
            </a:tbl>
          </a:graphicData>
        </a:graphic>
      </p:graphicFrame>
      <p:graphicFrame>
        <p:nvGraphicFramePr>
          <p:cNvPr id="10" name="Tabla 4">
            <a:extLst>
              <a:ext uri="{FF2B5EF4-FFF2-40B4-BE49-F238E27FC236}">
                <a16:creationId xmlns:a16="http://schemas.microsoft.com/office/drawing/2014/main" id="{C11286B6-8995-4F3F-8EF7-58972DA9F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968717"/>
              </p:ext>
            </p:extLst>
          </p:nvPr>
        </p:nvGraphicFramePr>
        <p:xfrm>
          <a:off x="4626591" y="1877898"/>
          <a:ext cx="1806891" cy="357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891">
                  <a:extLst>
                    <a:ext uri="{9D8B030D-6E8A-4147-A177-3AD203B41FA5}">
                      <a16:colId xmlns:a16="http://schemas.microsoft.com/office/drawing/2014/main" val="1866292576"/>
                    </a:ext>
                  </a:extLst>
                </a:gridCol>
              </a:tblGrid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17470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89795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484093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41673"/>
                  </a:ext>
                </a:extLst>
              </a:tr>
            </a:tbl>
          </a:graphicData>
        </a:graphic>
      </p:graphicFrame>
      <p:graphicFrame>
        <p:nvGraphicFramePr>
          <p:cNvPr id="11" name="Tabla 4">
            <a:extLst>
              <a:ext uri="{FF2B5EF4-FFF2-40B4-BE49-F238E27FC236}">
                <a16:creationId xmlns:a16="http://schemas.microsoft.com/office/drawing/2014/main" id="{00029B7A-EE6F-4510-A527-916E3D13C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649364"/>
              </p:ext>
            </p:extLst>
          </p:nvPr>
        </p:nvGraphicFramePr>
        <p:xfrm>
          <a:off x="6441206" y="1861532"/>
          <a:ext cx="1806891" cy="357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891">
                  <a:extLst>
                    <a:ext uri="{9D8B030D-6E8A-4147-A177-3AD203B41FA5}">
                      <a16:colId xmlns:a16="http://schemas.microsoft.com/office/drawing/2014/main" val="1866292576"/>
                    </a:ext>
                  </a:extLst>
                </a:gridCol>
              </a:tblGrid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17470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89795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484093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41673"/>
                  </a:ext>
                </a:extLst>
              </a:tr>
            </a:tbl>
          </a:graphicData>
        </a:graphic>
      </p:graphicFrame>
      <p:graphicFrame>
        <p:nvGraphicFramePr>
          <p:cNvPr id="12" name="Tabla 4">
            <a:extLst>
              <a:ext uri="{FF2B5EF4-FFF2-40B4-BE49-F238E27FC236}">
                <a16:creationId xmlns:a16="http://schemas.microsoft.com/office/drawing/2014/main" id="{987E7E5D-0486-4C7D-8835-90E16CEC4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678236"/>
              </p:ext>
            </p:extLst>
          </p:nvPr>
        </p:nvGraphicFramePr>
        <p:xfrm>
          <a:off x="8255821" y="1861532"/>
          <a:ext cx="1806891" cy="357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891">
                  <a:extLst>
                    <a:ext uri="{9D8B030D-6E8A-4147-A177-3AD203B41FA5}">
                      <a16:colId xmlns:a16="http://schemas.microsoft.com/office/drawing/2014/main" val="1866292576"/>
                    </a:ext>
                  </a:extLst>
                </a:gridCol>
              </a:tblGrid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17470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89795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484093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41673"/>
                  </a:ext>
                </a:extLst>
              </a:tr>
            </a:tbl>
          </a:graphicData>
        </a:graphic>
      </p:graphicFrame>
      <p:sp>
        <p:nvSpPr>
          <p:cNvPr id="13" name="Flecha: hacia arriba 12">
            <a:extLst>
              <a:ext uri="{FF2B5EF4-FFF2-40B4-BE49-F238E27FC236}">
                <a16:creationId xmlns:a16="http://schemas.microsoft.com/office/drawing/2014/main" id="{D1CC580A-C47D-466A-A2DE-13DDDEFB28B2}"/>
              </a:ext>
            </a:extLst>
          </p:cNvPr>
          <p:cNvSpPr/>
          <p:nvPr/>
        </p:nvSpPr>
        <p:spPr>
          <a:xfrm>
            <a:off x="2641586" y="5664281"/>
            <a:ext cx="1965633" cy="892566"/>
          </a:xfrm>
          <a:prstGeom prst="upArrow">
            <a:avLst>
              <a:gd name="adj1" fmla="val 6794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/>
              <a:t>Restar 0</a:t>
            </a:r>
          </a:p>
        </p:txBody>
      </p:sp>
      <p:sp>
        <p:nvSpPr>
          <p:cNvPr id="14" name="Flecha: hacia arriba 13">
            <a:extLst>
              <a:ext uri="{FF2B5EF4-FFF2-40B4-BE49-F238E27FC236}">
                <a16:creationId xmlns:a16="http://schemas.microsoft.com/office/drawing/2014/main" id="{E04DE361-8C03-41DA-933D-5B6A74181205}"/>
              </a:ext>
            </a:extLst>
          </p:cNvPr>
          <p:cNvSpPr/>
          <p:nvPr/>
        </p:nvSpPr>
        <p:spPr>
          <a:xfrm>
            <a:off x="4510423" y="5664281"/>
            <a:ext cx="1965633" cy="892566"/>
          </a:xfrm>
          <a:prstGeom prst="upArrow">
            <a:avLst>
              <a:gd name="adj1" fmla="val 6794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/>
              <a:t>Restar 3</a:t>
            </a:r>
          </a:p>
        </p:txBody>
      </p:sp>
      <p:sp>
        <p:nvSpPr>
          <p:cNvPr id="15" name="Flecha: hacia arriba 14">
            <a:extLst>
              <a:ext uri="{FF2B5EF4-FFF2-40B4-BE49-F238E27FC236}">
                <a16:creationId xmlns:a16="http://schemas.microsoft.com/office/drawing/2014/main" id="{3B7EED3B-2CC4-4688-B9D4-7755485383C5}"/>
              </a:ext>
            </a:extLst>
          </p:cNvPr>
          <p:cNvSpPr/>
          <p:nvPr/>
        </p:nvSpPr>
        <p:spPr>
          <a:xfrm>
            <a:off x="6433482" y="5664281"/>
            <a:ext cx="1965633" cy="892566"/>
          </a:xfrm>
          <a:prstGeom prst="upArrow">
            <a:avLst>
              <a:gd name="adj1" fmla="val 6794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/>
              <a:t>Restar 4</a:t>
            </a:r>
          </a:p>
        </p:txBody>
      </p:sp>
      <p:sp>
        <p:nvSpPr>
          <p:cNvPr id="16" name="Flecha: hacia arriba 15">
            <a:extLst>
              <a:ext uri="{FF2B5EF4-FFF2-40B4-BE49-F238E27FC236}">
                <a16:creationId xmlns:a16="http://schemas.microsoft.com/office/drawing/2014/main" id="{041A3609-A52F-4EF6-B325-785F9ACD2BEB}"/>
              </a:ext>
            </a:extLst>
          </p:cNvPr>
          <p:cNvSpPr/>
          <p:nvPr/>
        </p:nvSpPr>
        <p:spPr>
          <a:xfrm>
            <a:off x="8248097" y="5664281"/>
            <a:ext cx="1965633" cy="892566"/>
          </a:xfrm>
          <a:prstGeom prst="upArrow">
            <a:avLst>
              <a:gd name="adj1" fmla="val 6794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/>
              <a:t>Restar 0</a:t>
            </a:r>
          </a:p>
        </p:txBody>
      </p:sp>
    </p:spTree>
    <p:extLst>
      <p:ext uri="{BB962C8B-B14F-4D97-AF65-F5344CB8AC3E}">
        <p14:creationId xmlns:p14="http://schemas.microsoft.com/office/powerpoint/2010/main" val="393896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9457B1C0-7DC1-46AD-92F0-C25EBF917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284657"/>
              </p:ext>
            </p:extLst>
          </p:nvPr>
        </p:nvGraphicFramePr>
        <p:xfrm>
          <a:off x="1228298" y="936234"/>
          <a:ext cx="1591402" cy="450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402">
                  <a:extLst>
                    <a:ext uri="{9D8B030D-6E8A-4147-A177-3AD203B41FA5}">
                      <a16:colId xmlns:a16="http://schemas.microsoft.com/office/drawing/2014/main" val="1292673815"/>
                    </a:ext>
                  </a:extLst>
                </a:gridCol>
              </a:tblGrid>
              <a:tr h="900408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114763"/>
                  </a:ext>
                </a:extLst>
              </a:tr>
              <a:tr h="900408">
                <a:tc>
                  <a:txBody>
                    <a:bodyPr/>
                    <a:lstStyle/>
                    <a:p>
                      <a:pPr algn="ctr"/>
                      <a:endParaRPr lang="es-MX" b="1" dirty="0"/>
                    </a:p>
                    <a:p>
                      <a:pPr algn="ctr"/>
                      <a:r>
                        <a:rPr lang="es-MX" b="1" dirty="0"/>
                        <a:t>P1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920454"/>
                  </a:ext>
                </a:extLst>
              </a:tr>
              <a:tr h="900408">
                <a:tc>
                  <a:txBody>
                    <a:bodyPr/>
                    <a:lstStyle/>
                    <a:p>
                      <a:pPr algn="ctr"/>
                      <a:endParaRPr lang="es-MX" b="1" dirty="0"/>
                    </a:p>
                    <a:p>
                      <a:pPr algn="ctr"/>
                      <a:r>
                        <a:rPr lang="es-MX" b="1" dirty="0"/>
                        <a:t>P2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082689"/>
                  </a:ext>
                </a:extLst>
              </a:tr>
              <a:tr h="900408">
                <a:tc>
                  <a:txBody>
                    <a:bodyPr/>
                    <a:lstStyle/>
                    <a:p>
                      <a:pPr algn="ctr"/>
                      <a:endParaRPr lang="es-MX" b="1" dirty="0"/>
                    </a:p>
                    <a:p>
                      <a:pPr algn="ctr"/>
                      <a:r>
                        <a:rPr lang="es-MX" b="1" dirty="0"/>
                        <a:t>P3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111626"/>
                  </a:ext>
                </a:extLst>
              </a:tr>
              <a:tr h="900408">
                <a:tc>
                  <a:txBody>
                    <a:bodyPr/>
                    <a:lstStyle/>
                    <a:p>
                      <a:pPr algn="ctr"/>
                      <a:endParaRPr lang="es-MX" b="1" dirty="0"/>
                    </a:p>
                    <a:p>
                      <a:pPr algn="ctr"/>
                      <a:r>
                        <a:rPr lang="es-MX" b="1" dirty="0"/>
                        <a:t>P4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991086"/>
                  </a:ext>
                </a:extLst>
              </a:tr>
            </a:tbl>
          </a:graphicData>
        </a:graphic>
      </p:graphicFrame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16B37665-6FAE-4610-91E8-C086D4427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729899"/>
              </p:ext>
            </p:extLst>
          </p:nvPr>
        </p:nvGraphicFramePr>
        <p:xfrm>
          <a:off x="2819700" y="952600"/>
          <a:ext cx="7243012" cy="892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753">
                  <a:extLst>
                    <a:ext uri="{9D8B030D-6E8A-4147-A177-3AD203B41FA5}">
                      <a16:colId xmlns:a16="http://schemas.microsoft.com/office/drawing/2014/main" val="735300541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53771610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243615914"/>
                    </a:ext>
                  </a:extLst>
                </a:gridCol>
                <a:gridCol w="1810753">
                  <a:extLst>
                    <a:ext uri="{9D8B030D-6E8A-4147-A177-3AD203B41FA5}">
                      <a16:colId xmlns:a16="http://schemas.microsoft.com/office/drawing/2014/main" val="3787105395"/>
                    </a:ext>
                  </a:extLst>
                </a:gridCol>
              </a:tblGrid>
              <a:tr h="892566"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T4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055183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6624A63B-B6B4-4B20-9E3B-9BD21A150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265394"/>
              </p:ext>
            </p:extLst>
          </p:nvPr>
        </p:nvGraphicFramePr>
        <p:xfrm>
          <a:off x="2819700" y="1861532"/>
          <a:ext cx="1806891" cy="357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891">
                  <a:extLst>
                    <a:ext uri="{9D8B030D-6E8A-4147-A177-3AD203B41FA5}">
                      <a16:colId xmlns:a16="http://schemas.microsoft.com/office/drawing/2014/main" val="1866292576"/>
                    </a:ext>
                  </a:extLst>
                </a:gridCol>
              </a:tblGrid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17470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89795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484093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41673"/>
                  </a:ext>
                </a:extLst>
              </a:tr>
            </a:tbl>
          </a:graphicData>
        </a:graphic>
      </p:graphicFrame>
      <p:graphicFrame>
        <p:nvGraphicFramePr>
          <p:cNvPr id="10" name="Tabla 4">
            <a:extLst>
              <a:ext uri="{FF2B5EF4-FFF2-40B4-BE49-F238E27FC236}">
                <a16:creationId xmlns:a16="http://schemas.microsoft.com/office/drawing/2014/main" id="{C11286B6-8995-4F3F-8EF7-58972DA9F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065986"/>
              </p:ext>
            </p:extLst>
          </p:nvPr>
        </p:nvGraphicFramePr>
        <p:xfrm>
          <a:off x="4626591" y="1877898"/>
          <a:ext cx="1806891" cy="357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891">
                  <a:extLst>
                    <a:ext uri="{9D8B030D-6E8A-4147-A177-3AD203B41FA5}">
                      <a16:colId xmlns:a16="http://schemas.microsoft.com/office/drawing/2014/main" val="1866292576"/>
                    </a:ext>
                  </a:extLst>
                </a:gridCol>
              </a:tblGrid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17470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89795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484093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41673"/>
                  </a:ext>
                </a:extLst>
              </a:tr>
            </a:tbl>
          </a:graphicData>
        </a:graphic>
      </p:graphicFrame>
      <p:graphicFrame>
        <p:nvGraphicFramePr>
          <p:cNvPr id="11" name="Tabla 4">
            <a:extLst>
              <a:ext uri="{FF2B5EF4-FFF2-40B4-BE49-F238E27FC236}">
                <a16:creationId xmlns:a16="http://schemas.microsoft.com/office/drawing/2014/main" id="{00029B7A-EE6F-4510-A527-916E3D13C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391646"/>
              </p:ext>
            </p:extLst>
          </p:nvPr>
        </p:nvGraphicFramePr>
        <p:xfrm>
          <a:off x="6441206" y="1861532"/>
          <a:ext cx="1806891" cy="357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891">
                  <a:extLst>
                    <a:ext uri="{9D8B030D-6E8A-4147-A177-3AD203B41FA5}">
                      <a16:colId xmlns:a16="http://schemas.microsoft.com/office/drawing/2014/main" val="1866292576"/>
                    </a:ext>
                  </a:extLst>
                </a:gridCol>
              </a:tblGrid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17470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89795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484093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41673"/>
                  </a:ext>
                </a:extLst>
              </a:tr>
            </a:tbl>
          </a:graphicData>
        </a:graphic>
      </p:graphicFrame>
      <p:graphicFrame>
        <p:nvGraphicFramePr>
          <p:cNvPr id="12" name="Tabla 4">
            <a:extLst>
              <a:ext uri="{FF2B5EF4-FFF2-40B4-BE49-F238E27FC236}">
                <a16:creationId xmlns:a16="http://schemas.microsoft.com/office/drawing/2014/main" id="{987E7E5D-0486-4C7D-8835-90E16CEC4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777087"/>
              </p:ext>
            </p:extLst>
          </p:nvPr>
        </p:nvGraphicFramePr>
        <p:xfrm>
          <a:off x="8255821" y="1861532"/>
          <a:ext cx="1806891" cy="357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891">
                  <a:extLst>
                    <a:ext uri="{9D8B030D-6E8A-4147-A177-3AD203B41FA5}">
                      <a16:colId xmlns:a16="http://schemas.microsoft.com/office/drawing/2014/main" val="1866292576"/>
                    </a:ext>
                  </a:extLst>
                </a:gridCol>
              </a:tblGrid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17470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89795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484093"/>
                  </a:ext>
                </a:extLst>
              </a:tr>
              <a:tr h="894186">
                <a:tc>
                  <a:txBody>
                    <a:bodyPr/>
                    <a:lstStyle/>
                    <a:p>
                      <a:endParaRPr lang="es-MX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s-MX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41673"/>
                  </a:ext>
                </a:extLst>
              </a:tr>
            </a:tbl>
          </a:graphicData>
        </a:graphic>
      </p:graphicFrame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7920888-8F47-443D-BBE7-C205035CA600}"/>
              </a:ext>
            </a:extLst>
          </p:cNvPr>
          <p:cNvCxnSpPr/>
          <p:nvPr/>
        </p:nvCxnSpPr>
        <p:spPr>
          <a:xfrm>
            <a:off x="9152705" y="2209800"/>
            <a:ext cx="13122" cy="3380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CAC7732-0141-4EC3-8C87-3CF23F56249D}"/>
              </a:ext>
            </a:extLst>
          </p:cNvPr>
          <p:cNvCxnSpPr/>
          <p:nvPr/>
        </p:nvCxnSpPr>
        <p:spPr>
          <a:xfrm>
            <a:off x="3710023" y="2073766"/>
            <a:ext cx="13122" cy="3380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FCB06E6-2EDB-438B-8A32-F8FD62E6BDD7}"/>
              </a:ext>
            </a:extLst>
          </p:cNvPr>
          <p:cNvCxnSpPr/>
          <p:nvPr/>
        </p:nvCxnSpPr>
        <p:spPr>
          <a:xfrm>
            <a:off x="3118782" y="2373085"/>
            <a:ext cx="662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6DC4979-2651-4DD8-9339-D768EFDC63B1}"/>
              </a:ext>
            </a:extLst>
          </p:cNvPr>
          <p:cNvCxnSpPr/>
          <p:nvPr/>
        </p:nvCxnSpPr>
        <p:spPr>
          <a:xfrm>
            <a:off x="3126506" y="4106635"/>
            <a:ext cx="662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376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D35A2-C0A2-4CAE-A4E9-B86C69A3E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374" y="1996393"/>
            <a:ext cx="8911687" cy="2938240"/>
          </a:xfrm>
        </p:spPr>
        <p:txBody>
          <a:bodyPr/>
          <a:lstStyle/>
          <a:p>
            <a:r>
              <a:rPr lang="es-MX" dirty="0"/>
              <a:t>ASIGNACIONES:</a:t>
            </a:r>
            <a:br>
              <a:rPr lang="es-MX" dirty="0"/>
            </a:br>
            <a:r>
              <a:rPr lang="es-MX" dirty="0"/>
              <a:t>Postulante1: Trabajo1, Trabajo2</a:t>
            </a:r>
            <a:br>
              <a:rPr lang="es-MX" dirty="0"/>
            </a:br>
            <a:r>
              <a:rPr lang="es-MX" dirty="0"/>
              <a:t>Postulante2: Trabajo4</a:t>
            </a:r>
            <a:br>
              <a:rPr lang="es-MX" dirty="0"/>
            </a:br>
            <a:r>
              <a:rPr lang="es-MX" dirty="0"/>
              <a:t>Postulante3: Trabajo3, Trabajo4</a:t>
            </a:r>
            <a:br>
              <a:rPr lang="es-MX" dirty="0"/>
            </a:br>
            <a:r>
              <a:rPr lang="es-MX" dirty="0"/>
              <a:t>Postulante4: Trabajo1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708FB2C-483F-4F70-A659-930119AA2FE0}"/>
              </a:ext>
            </a:extLst>
          </p:cNvPr>
          <p:cNvCxnSpPr/>
          <p:nvPr/>
        </p:nvCxnSpPr>
        <p:spPr>
          <a:xfrm flipV="1">
            <a:off x="4895850" y="2647950"/>
            <a:ext cx="1771650" cy="38100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826C950-0A19-4935-953D-7A453E718740}"/>
              </a:ext>
            </a:extLst>
          </p:cNvPr>
          <p:cNvCxnSpPr/>
          <p:nvPr/>
        </p:nvCxnSpPr>
        <p:spPr>
          <a:xfrm flipV="1">
            <a:off x="7181850" y="3810000"/>
            <a:ext cx="1771650" cy="38100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09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224</TotalTime>
  <Words>319</Words>
  <Application>Microsoft Office PowerPoint</Application>
  <PresentationFormat>Panorámica</PresentationFormat>
  <Paragraphs>310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Espiral</vt:lpstr>
      <vt:lpstr>Problema: Una empresa dispone de 4 trabajos. 4 postulantes se presentan para los 4 trabajos. Los puntajes de desempeño de los 4 postulantes en los trabajos son los siguientes:</vt:lpstr>
      <vt:lpstr>Presentación de PowerPoint</vt:lpstr>
      <vt:lpstr>El método Húngaro solo sirve para minimización. Para resolver este ejercicio(maximización) debemos transformar el ejercicio como fuese uno de minimización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ASIGNACIONES: Postulante1: Trabajo1, Trabajo2 Postulante2: Trabajo4 Postulante3: Trabajo3, Trabajo4 Postulante4: Trabajo1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TOSHIBA</dc:creator>
  <cp:lastModifiedBy>TOSHIBA</cp:lastModifiedBy>
  <cp:revision>15</cp:revision>
  <dcterms:created xsi:type="dcterms:W3CDTF">2020-10-06T23:24:46Z</dcterms:created>
  <dcterms:modified xsi:type="dcterms:W3CDTF">2020-10-07T03:09:24Z</dcterms:modified>
</cp:coreProperties>
</file>